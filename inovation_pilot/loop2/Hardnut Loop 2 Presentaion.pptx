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</p:sldMasterIdLst>
  <p:notesMasterIdLst>
    <p:notesMasterId r:id="rId18"/>
  </p:notesMasterIdLst>
  <p:handoutMasterIdLst>
    <p:handoutMasterId r:id="rId19"/>
  </p:handoutMasterIdLst>
  <p:sldIdLst>
    <p:sldId id="256" r:id="rId13"/>
    <p:sldId id="260" r:id="rId14"/>
    <p:sldId id="262" r:id="rId15"/>
    <p:sldId id="261" r:id="rId16"/>
    <p:sldId id="257" r:id="rId17"/>
  </p:sldIdLst>
  <p:sldSz cx="12190413" cy="6858000"/>
  <p:notesSz cx="6858000" cy="9144000"/>
  <p:custDataLst>
    <p:tags r:id="rId2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37"/>
    <a:srgbClr val="F7BCB3"/>
    <a:srgbClr val="FC7634"/>
    <a:srgbClr val="F6D04D"/>
    <a:srgbClr val="171748"/>
    <a:srgbClr val="1FD082"/>
    <a:srgbClr val="2F3EEA"/>
    <a:srgbClr val="FFFFFF"/>
    <a:srgbClr val="99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98" autoAdjust="0"/>
    <p:restoredTop sz="95455" autoAdjust="0"/>
  </p:normalViewPr>
  <p:slideViewPr>
    <p:cSldViewPr showGuides="1">
      <p:cViewPr varScale="1">
        <p:scale>
          <a:sx n="107" d="100"/>
          <a:sy n="107" d="100"/>
        </p:scale>
        <p:origin x="552" y="1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DK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0716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rgbClr val="008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-14069"/>
            <a:ext cx="0" cy="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C22939-3009-C839-FACB-4CDC0C4C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CB93A3-14C7-B785-35EA-B0F30418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Titel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CD6EBB-EB8D-6009-F6B0-3466B34C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767E3-722A-DFB5-0B87-5022D38823A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C948-1FB7-C169-1839-88392174616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CF336-047E-6CB2-3375-FE7876A077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60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05C7D-C6F6-9DC0-B97C-9FB32845DC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5C4C5-A2B7-886E-F9ED-331296AB7D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9F451-F498-84ED-D88B-73A6C06C8E1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2F790-C25A-0D01-C867-5F2069B20F6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372B9-9D79-7A2E-53C8-78AC53DAE7B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Dato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Titel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Dato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Titel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0873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Titel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da-DK" noProof="0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Danmarks Tekniske Universitet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008737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AE06DF-7A3D-0AB6-4D73-568C5F733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0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3C01-1309-D8BA-1868-869C444B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9D92DA0-56D6-2278-2437-8CBF6AE88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 dirty="0"/>
              <a:t>Group 58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1354C0A-60EB-8233-103E-C92C74C95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HardNut Presentation – Egholm Case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Titel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F3B5602-BF9F-74A0-E736-6A379C36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A073-7B6E-200D-946D-C756DADC2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000" dirty="0"/>
              <a:t>- Interview with Egholm</a:t>
            </a:r>
            <a:br>
              <a:rPr lang="en-GB" sz="2000" dirty="0"/>
            </a:br>
            <a:r>
              <a:rPr lang="en-GB" sz="2000" dirty="0"/>
              <a:t>- Website</a:t>
            </a:r>
            <a:br>
              <a:rPr lang="en-GB" sz="2000" dirty="0"/>
            </a:br>
            <a:r>
              <a:rPr lang="en-GB" sz="2000" dirty="0"/>
              <a:t>- Desktop Research</a:t>
            </a:r>
            <a:endParaRPr lang="en-DK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C01DB-241A-074E-054D-6BEC250682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endParaRPr lang="en-GB" sz="3600" b="1" dirty="0"/>
          </a:p>
          <a:p>
            <a:r>
              <a:rPr lang="en-GB" sz="3600" b="1" dirty="0"/>
              <a:t>What research have we done?</a:t>
            </a:r>
          </a:p>
          <a:p>
            <a:endParaRPr lang="en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43757-C733-1B18-8FC4-F8490D09A4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325BA-7092-06DD-7157-166BA849BE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7D5D69-005D-3D0C-BD60-118D72B14B2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  <p:sp>
        <p:nvSpPr>
          <p:cNvPr id="7" name="AutoShape 2" descr="Egholm I Honest People, Honest Machines, Honest Work">
            <a:extLst>
              <a:ext uri="{FF2B5EF4-FFF2-40B4-BE49-F238E27FC236}">
                <a16:creationId xmlns:a16="http://schemas.microsoft.com/office/drawing/2014/main" id="{7B7F0492-A37C-0742-2733-4B9E671DFE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  <p:pic>
        <p:nvPicPr>
          <p:cNvPr id="10" name="Picture 9" descr="A green and black vehicle with a round brush&#10;&#10;AI-generated content may be incorrect.">
            <a:extLst>
              <a:ext uri="{FF2B5EF4-FFF2-40B4-BE49-F238E27FC236}">
                <a16:creationId xmlns:a16="http://schemas.microsoft.com/office/drawing/2014/main" id="{D71B9A7B-8317-6276-20AE-D7FBB171EF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7" b="2852"/>
          <a:stretch>
            <a:fillRect/>
          </a:stretch>
        </p:blipFill>
        <p:spPr>
          <a:xfrm>
            <a:off x="8194551" y="3332377"/>
            <a:ext cx="3744416" cy="29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5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AE74-125B-3F24-7439-5B5B05EA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859" y="2861133"/>
            <a:ext cx="10840028" cy="2706458"/>
          </a:xfrm>
        </p:spPr>
        <p:txBody>
          <a:bodyPr/>
          <a:lstStyle/>
          <a:p>
            <a:pPr algn="just"/>
            <a:r>
              <a:rPr lang="en-GB" sz="2400" b="0" dirty="0" err="1">
                <a:latin typeface="+mn-lt"/>
              </a:rPr>
              <a:t>Hvordan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kan</a:t>
            </a:r>
            <a:r>
              <a:rPr lang="en-GB" sz="2400" b="0" dirty="0">
                <a:latin typeface="+mn-lt"/>
              </a:rPr>
              <a:t> vi </a:t>
            </a:r>
            <a:r>
              <a:rPr lang="en-GB" sz="2400" b="0" dirty="0" err="1">
                <a:latin typeface="+mn-lt"/>
              </a:rPr>
              <a:t>påvirke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og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støtte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brugerens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adfærd</a:t>
            </a:r>
            <a:r>
              <a:rPr lang="en-GB" sz="2400" b="0" dirty="0">
                <a:latin typeface="+mn-lt"/>
              </a:rPr>
              <a:t>, </a:t>
            </a:r>
            <a:r>
              <a:rPr lang="en-GB" sz="2400" b="0" dirty="0" err="1">
                <a:latin typeface="+mn-lt"/>
              </a:rPr>
              <a:t>så</a:t>
            </a:r>
            <a:r>
              <a:rPr lang="en-GB" sz="2400" b="0" dirty="0">
                <a:latin typeface="+mn-lt"/>
              </a:rPr>
              <a:t> E-</a:t>
            </a:r>
            <a:r>
              <a:rPr lang="en-GB" sz="2400" b="0" dirty="0" err="1">
                <a:latin typeface="+mn-lt"/>
              </a:rPr>
              <a:t>Traktoren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bruges</a:t>
            </a:r>
            <a:r>
              <a:rPr lang="en-GB" sz="2400" b="0" dirty="0">
                <a:latin typeface="+mn-lt"/>
              </a:rPr>
              <a:t> mere </a:t>
            </a:r>
            <a:r>
              <a:rPr lang="en-GB" sz="2400" b="0" dirty="0" err="1">
                <a:latin typeface="+mn-lt"/>
              </a:rPr>
              <a:t>energieffektivt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i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daglig</a:t>
            </a:r>
            <a:r>
              <a:rPr lang="en-GB" sz="2400" b="0" dirty="0">
                <a:latin typeface="+mn-lt"/>
              </a:rPr>
              <a:t> drift – </a:t>
            </a:r>
            <a:r>
              <a:rPr lang="en-GB" sz="2400" b="0" dirty="0" err="1">
                <a:latin typeface="+mn-lt"/>
              </a:rPr>
              <a:t>uden</a:t>
            </a:r>
            <a:r>
              <a:rPr lang="en-GB" sz="2400" b="0" dirty="0">
                <a:latin typeface="+mn-lt"/>
              </a:rPr>
              <a:t> at det </a:t>
            </a:r>
            <a:r>
              <a:rPr lang="en-GB" sz="2400" b="0" dirty="0" err="1">
                <a:latin typeface="+mn-lt"/>
              </a:rPr>
              <a:t>opleves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som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en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begrænsning</a:t>
            </a:r>
            <a:r>
              <a:rPr lang="en-GB" sz="2400" b="0" dirty="0">
                <a:latin typeface="+mn-lt"/>
              </a:rPr>
              <a:t> – </a:t>
            </a:r>
            <a:r>
              <a:rPr lang="en-GB" sz="2400" b="0" dirty="0" err="1">
                <a:latin typeface="+mn-lt"/>
              </a:rPr>
              <a:t>og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dermed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bidrage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til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lavere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driftsomkostninger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og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øget</a:t>
            </a:r>
            <a:r>
              <a:rPr lang="en-GB" sz="2400" b="0" dirty="0">
                <a:latin typeface="+mn-lt"/>
              </a:rPr>
              <a:t> </a:t>
            </a:r>
            <a:r>
              <a:rPr lang="en-GB" sz="2400" b="0" dirty="0" err="1">
                <a:latin typeface="+mn-lt"/>
              </a:rPr>
              <a:t>markedsværdi</a:t>
            </a:r>
            <a:r>
              <a:rPr lang="en-GB" sz="2400" b="0" dirty="0">
                <a:latin typeface="+mn-lt"/>
              </a:rPr>
              <a:t>?</a:t>
            </a:r>
            <a:br>
              <a:rPr lang="en-GB" sz="2400" b="0" dirty="0">
                <a:latin typeface="+mn-lt"/>
              </a:rPr>
            </a:br>
            <a:endParaRPr lang="en-DK" sz="24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54621-E072-F4A5-6F91-0FC1CCB1D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859" y="1052736"/>
            <a:ext cx="10840028" cy="1660654"/>
          </a:xfrm>
        </p:spPr>
        <p:txBody>
          <a:bodyPr/>
          <a:lstStyle/>
          <a:p>
            <a:r>
              <a:rPr lang="en-DK" sz="5400" b="1" dirty="0">
                <a:latin typeface="+mj-lt"/>
              </a:rPr>
              <a:t>HardNut: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073BD-BD77-72A5-7F80-BA1966DB4C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96845-A034-DEF9-3175-9A769CCECF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3B6FED-2BC7-D759-FD36-184F6B96246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  <p:sp>
        <p:nvSpPr>
          <p:cNvPr id="7" name="AutoShape 2" descr="Egholm I Honest People, Honest Machines, Honest Work">
            <a:extLst>
              <a:ext uri="{FF2B5EF4-FFF2-40B4-BE49-F238E27FC236}">
                <a16:creationId xmlns:a16="http://schemas.microsoft.com/office/drawing/2014/main" id="{6C0C786D-0943-71B4-3ADC-A3CE3F717C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874942"/>
            <a:ext cx="2706458" cy="2706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  <p:sp>
        <p:nvSpPr>
          <p:cNvPr id="8" name="AutoShape 4" descr="Egholm I Honest People, Honest Machines, Honest Work">
            <a:extLst>
              <a:ext uri="{FF2B5EF4-FFF2-40B4-BE49-F238E27FC236}">
                <a16:creationId xmlns:a16="http://schemas.microsoft.com/office/drawing/2014/main" id="{4B394D8E-8C99-D735-7174-5CDDD5323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1268760"/>
            <a:ext cx="2312640" cy="231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  <p:pic>
        <p:nvPicPr>
          <p:cNvPr id="12" name="Picture 11" descr="A green and grey street sweeper&#10;&#10;AI-generated content may be incorrect.">
            <a:extLst>
              <a:ext uri="{FF2B5EF4-FFF2-40B4-BE49-F238E27FC236}">
                <a16:creationId xmlns:a16="http://schemas.microsoft.com/office/drawing/2014/main" id="{9692304E-FB4D-74F8-BF34-CED9EE439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986" y="4005065"/>
            <a:ext cx="2845636" cy="238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1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do </a:t>
            </a:r>
            <a:r>
              <a:rPr lang="da-DK" dirty="0" err="1"/>
              <a:t>next</a:t>
            </a:r>
            <a:r>
              <a:rPr lang="da-DK" dirty="0"/>
              <a:t>?</a:t>
            </a:r>
            <a:endParaRPr lang="uk-UA" dirty="0"/>
          </a:p>
        </p:txBody>
      </p:sp>
      <p:pic>
        <p:nvPicPr>
          <p:cNvPr id="5" name="Content Placeholder 4" descr="A green lawn mower with a small cab&#10;&#10;AI-generated content may be incorrect.">
            <a:extLst>
              <a:ext uri="{FF2B5EF4-FFF2-40B4-BE49-F238E27FC236}">
                <a16:creationId xmlns:a16="http://schemas.microsoft.com/office/drawing/2014/main" id="{1A109EB0-CF33-E6DA-3FE7-DAE4E3FDA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656" y="3317392"/>
            <a:ext cx="3710394" cy="3108709"/>
          </a:xfrm>
        </p:spPr>
      </p:pic>
      <p:sp>
        <p:nvSpPr>
          <p:cNvPr id="10" name="FLD_Presentation Title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B9667-D55B-5E54-44B8-3AA7564B05A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Dato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Green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008835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8737"/>
        </a:solidFill>
        <a:ln w="9525" cap="flat" cmpd="sng" algn="ctr">
          <a:solidFill>
            <a:srgbClr val="008737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Green.potx" id="{E99459BE-98E7-46BD-9176-BDD633D1E64E}" vid="{7FA8D01D-58B5-4E28-ADC7-3966F3B1497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SlideTemplateConfiguration><![CDATA[{"elementsMetadata":[],"documentContentValidatorConfiguration":{"enableDocumentContentValidator":false,"documentContentValidatorVersion":0},"slideId":"636964369970345660","enableDocumentContentUpdater":true,"version":"1.2"}]]></TemplafySlideTemplateConfiguration>
</file>

<file path=customXml/item3.xml><?xml version="1.0" encoding="utf-8"?>
<TemplafySlideTemplateConfiguration><![CDATA[{"elementsMetadata":[],"documentContentValidatorConfiguration":{"enableDocumentContentValidator":false,"documentContentValidatorVersion":0},"slideId":"636964369970985159","enableDocumentContentUpdater":true,"version":"1.2"}]]></TemplafySlideTemplate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TemplateConfiguration><![CDATA[{"elementsMetadata":[],"transformationConfigurations":[{"language":"{{DocumentLanguage}}","disableUpdates":false,"type":"proofingLanguage"}],"templateName":"DTU Template 16_9 - Green","templateDescription":"","enableDocumentContentUpdater":true,"version":"1.2"}]]></Templafy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64369972556417","enableDocumentContentUpdater":true,"version":"1.2"}]]></TemplafySlideTemplateConfiguration>
</file>

<file path=customXml/item1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CAD9A9C-4490-40FE-B6EE-09056A902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7D4340-81E9-46AF-B909-48B68CC900EF}">
  <ds:schemaRefs/>
</ds:datastoreItem>
</file>

<file path=customXml/itemProps3.xml><?xml version="1.0" encoding="utf-8"?>
<ds:datastoreItem xmlns:ds="http://schemas.openxmlformats.org/officeDocument/2006/customXml" ds:itemID="{9A75AE2F-93CA-4972-86BB-29AB79ACCA1E}">
  <ds:schemaRefs/>
</ds:datastoreItem>
</file>

<file path=customXml/itemProps4.xml><?xml version="1.0" encoding="utf-8"?>
<ds:datastoreItem xmlns:ds="http://schemas.openxmlformats.org/officeDocument/2006/customXml" ds:itemID="{ABF51F55-B004-46D7-A679-5A180B2299D4}">
  <ds:schemaRefs/>
</ds:datastoreItem>
</file>

<file path=customXml/itemProps5.xml><?xml version="1.0" encoding="utf-8"?>
<ds:datastoreItem xmlns:ds="http://schemas.openxmlformats.org/officeDocument/2006/customXml" ds:itemID="{1B46E5B1-A621-40DF-910B-5C6343B8CC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6.xml><?xml version="1.0" encoding="utf-8"?>
<ds:datastoreItem xmlns:ds="http://schemas.openxmlformats.org/officeDocument/2006/customXml" ds:itemID="{A41C4FCC-FE53-49E7-9F37-E29C7960942C}">
  <ds:schemaRefs/>
</ds:datastoreItem>
</file>

<file path=customXml/itemProps7.xml><?xml version="1.0" encoding="utf-8"?>
<ds:datastoreItem xmlns:ds="http://schemas.openxmlformats.org/officeDocument/2006/customXml" ds:itemID="{40BF509C-78FA-46F5-B5D7-7488E351E3B9}">
  <ds:schemaRefs/>
</ds:datastoreItem>
</file>

<file path=customXml/itemProps8.xml><?xml version="1.0" encoding="utf-8"?>
<ds:datastoreItem xmlns:ds="http://schemas.openxmlformats.org/officeDocument/2006/customXml" ds:itemID="{1334258C-C3E7-4029-A615-C886A240FB15}">
  <ds:schemaRefs/>
</ds:datastoreItem>
</file>

<file path=customXml/itemProps9.xml><?xml version="1.0" encoding="utf-8"?>
<ds:datastoreItem xmlns:ds="http://schemas.openxmlformats.org/officeDocument/2006/customXml" ds:itemID="{3EB6F159-79F4-4836-B7E6-B445355D7CC9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422E078D-F3C6-43D1-9F4A-CC93FA330CC7}">
  <ds:schemaRefs/>
</ds:datastoreItem>
</file>

<file path=customXml/itemProps11.xml><?xml version="1.0" encoding="utf-8"?>
<ds:datastoreItem xmlns:ds="http://schemas.openxmlformats.org/officeDocument/2006/customXml" ds:itemID="{BDF24F0A-B8FF-43DE-92DA-AC86FABA256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</TotalTime>
  <Words>85</Words>
  <Application>Microsoft Macintosh PowerPoint</Application>
  <PresentationFormat>Custom</PresentationFormat>
  <Paragraphs>25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Verdana</vt:lpstr>
      <vt:lpstr>Blank</vt:lpstr>
      <vt:lpstr>PowerPoint Presentation</vt:lpstr>
      <vt:lpstr>Group 58</vt:lpstr>
      <vt:lpstr>- Interview with Egholm - Website - Desktop Research</vt:lpstr>
      <vt:lpstr>Hvordan kan vi påvirke og støtte brugerens adfærd, så E-Traktoren bruges mere energieffektivt i daglig drift – uden at det opleves som en begrænsning – og dermed bidrage til lavere driftsomkostninger og øget markedsværdi? </vt:lpstr>
      <vt:lpstr>What will you do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Ferhat Erman</dc:creator>
  <cp:lastModifiedBy>Ferhat Erman</cp:lastModifiedBy>
  <cp:revision>2</cp:revision>
  <dcterms:created xsi:type="dcterms:W3CDTF">2025-11-04T18:07:37Z</dcterms:created>
  <dcterms:modified xsi:type="dcterms:W3CDTF">2025-11-04T18:23:56Z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2019-06-18T06:43:16.2321026</vt:lpwstr>
  </property>
  <property fmtid="{D5CDD505-2E9C-101B-9397-08002B2CF9AE}" pid="4" name="ContentTypeId">
    <vt:lpwstr>0x0101009ADA1FD2B40FDA458284BB6FCA763489</vt:lpwstr>
  </property>
</Properties>
</file>